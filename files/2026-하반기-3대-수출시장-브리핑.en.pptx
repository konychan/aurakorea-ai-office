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A45C"/>
              </a:solidFill>
              <a:ln w="25400" cap="flat">
                <a:solidFill>
                  <a:srgbClr val="FAF8F4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CD8CF"/>
              </a:solidFill>
              <a:ln w="25400" cap="flat">
                <a:solidFill>
                  <a:srgbClr val="FAF8F4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2FA8A0"/>
              </a:solidFill>
              <a:ln w="25400" cap="flat">
                <a:solidFill>
                  <a:srgbClr val="FAF8F4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France·Brazil·USA</c:v>
                </c:pt>
                <c:pt idx="1">
                  <c:v>Others</c:v>
                </c:pt>
                <c:pt idx="2">
                  <c:v>Korea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38.8</c:v>
                </c:pt>
                <c:pt idx="2">
                  <c:v>1.2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A8A0"/>
              </a:solidFill>
              <a:ln w="25400" cap="flat">
                <a:solidFill>
                  <a:srgbClr val="FAF8F4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CD8CF"/>
              </a:solidFill>
              <a:ln w="25400" cap="flat">
                <a:solidFill>
                  <a:srgbClr val="FAF8F4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Saudi Arabia</c:v>
                </c:pt>
                <c:pt idx="1">
                  <c:v>UAE and rest of GCC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52</c:v>
                </c:pt>
                <c:pt idx="1">
                  <c:v>48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solidFill>
            <a:srgbClr val="1C554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18288" cy="6858000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7863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KOREA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1051560" cy="41148"/>
          </a:xfrm>
          <a:prstGeom prst="rect">
            <a:avLst/>
          </a:prstGeom>
          <a:solidFill>
            <a:srgbClr val="2FA8A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57984"/>
            <a:ext cx="5852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H2 2026</a:t>
            </a:r>
            <a:endParaRPr lang="en-US" sz="4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 Key Export Markets Briefing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404164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Argentina · Spain/EU · GCC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4352544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Findings researched directly by our three market research managers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5632704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Reported by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Division Head Gong Min-gyu</a:t>
            </a:r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|   Prepared by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 Production Kang Tae-o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5907024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2026. 08. 18.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192024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21.7%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772400" y="2468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No.1 share of imported cosmetics in the EU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305409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90%+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772400" y="36027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Growth rate of Argentina's imports from Korea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418795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75%+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772400" y="47365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Concentration of GCC demand in Saudi Arabia and the UAE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2FA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950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This is how the market is splitting right now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426464"/>
            <a:ext cx="786384" cy="32004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2011680"/>
            <a:ext cx="3454298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DC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011680"/>
            <a:ext cx="41148" cy="2834640"/>
          </a:xfrm>
          <a:prstGeom prst="rect">
            <a:avLst/>
          </a:prstGeom>
          <a:solidFill>
            <a:srgbClr val="123B34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" y="2286000"/>
            <a:ext cx="290565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Spain · EU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9264" y="2560320"/>
            <a:ext cx="290565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Defend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69264" y="3090672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Already No.1 — regulation is the variable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9264" y="3493008"/>
            <a:ext cx="2832506" cy="7315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11" name="Text 9"/>
          <p:cNvSpPr/>
          <p:nvPr/>
        </p:nvSpPr>
        <p:spPr>
          <a:xfrm>
            <a:off x="969264" y="3639312"/>
            <a:ext cx="283250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K-beauty online consumption in Spain surged 430%; new sales channels are forming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68698" y="2011680"/>
            <a:ext cx="3454298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DC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8698" y="2011680"/>
            <a:ext cx="41148" cy="2834640"/>
          </a:xfrm>
          <a:prstGeom prst="rect">
            <a:avLst/>
          </a:prstGeom>
          <a:solidFill>
            <a:srgbClr val="2FA8A0"/>
          </a:solidFill>
          <a:ln/>
        </p:spPr>
      </p:sp>
      <p:sp>
        <p:nvSpPr>
          <p:cNvPr id="14" name="Text 12"/>
          <p:cNvSpPr/>
          <p:nvPr/>
        </p:nvSpPr>
        <p:spPr>
          <a:xfrm>
            <a:off x="4679594" y="2286000"/>
            <a:ext cx="290565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GCC · Middle East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79594" y="2560320"/>
            <a:ext cx="290565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A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Concentrate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79594" y="3090672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Resources must be concentrated on two countries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79594" y="3493008"/>
            <a:ext cx="2832506" cy="7315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18" name="Text 16"/>
          <p:cNvSpPr/>
          <p:nvPr/>
        </p:nvSpPr>
        <p:spPr>
          <a:xfrm>
            <a:off x="4679594" y="3639312"/>
            <a:ext cx="283250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Saudi Arabia and the UAE account for 75%+ of GCC K-beauty demand — halal is not mandatory, but it helps channel entry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79029" y="2011680"/>
            <a:ext cx="3454298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DC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79029" y="2011680"/>
            <a:ext cx="41148" cy="2834640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21" name="Text 19"/>
          <p:cNvSpPr/>
          <p:nvPr/>
        </p:nvSpPr>
        <p:spPr>
          <a:xfrm>
            <a:off x="8389925" y="2286000"/>
            <a:ext cx="290565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Argentina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89925" y="2560320"/>
            <a:ext cx="290565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A4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Move first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389925" y="3090672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Small, but the fastest-growing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89925" y="3493008"/>
            <a:ext cx="2832506" cy="7315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25" name="Text 23"/>
          <p:cNvSpPr/>
          <p:nvPr/>
        </p:nvSpPr>
        <p:spPr>
          <a:xfrm>
            <a:off x="8389925" y="3639312"/>
            <a:ext cx="283250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K-beauty share is still small at 1.2%, but growth is around 90% — now is the time to move first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" y="5358384"/>
            <a:ext cx="10874959" cy="658368"/>
          </a:xfrm>
          <a:prstGeom prst="rect">
            <a:avLst/>
          </a:prstGeom>
          <a:solidFill>
            <a:srgbClr val="123B34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8A4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Division Head's view 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Treating the three markets with equal weight will lose all three. I propose splitting the budget as follows: the EU on regulatory response (labelling and packaging), the GCC on two countries (Saudi Arabia and the UAE), and Argentina on speed of first-mover entry.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" y="6163056"/>
            <a:ext cx="10874959" cy="9144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62362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Source: web search research by the 3 market research managers (2026.08.18)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984687" y="62362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2FA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ARGENTINA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950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Argentina — a small market, but the fastest-growing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426464"/>
            <a:ext cx="786384" cy="32004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572768"/>
            <a:ext cx="10874959" cy="475488"/>
          </a:xfrm>
          <a:prstGeom prst="rect">
            <a:avLst/>
          </a:prstGeom>
          <a:solidFill>
            <a:srgbClr val="C8A45C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K-beauty share is still small at 1.2%, but growth is around 90% — now is the time to move first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1.2%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Korea's share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71216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90%+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871216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Year-on-year growth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84064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84064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Oligopoly of the top 3 countries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3291840"/>
            <a:ext cx="6400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Korea's share is 1.2%, but growth exceeds 90% — a low-competition window for moving first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top 3 countries (France, Brazil, USA) hold a 60% oligopoly — enter on differentiation rather than price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 ANMAT registration is mandatory; lead time must be secured through individual approval of raw materials and ingredients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 advertising regulation introduced in June 2025 — efficacy wording must be checked in advance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5340096"/>
            <a:ext cx="10874959" cy="658368"/>
          </a:xfrm>
          <a:prstGeom prst="roundRect">
            <a:avLst>
              <a:gd name="adj" fmla="val 6944"/>
            </a:avLst>
          </a:prstGeom>
          <a:solidFill>
            <a:srgbClr val="FDF0DC"/>
          </a:solidFill>
          <a:ln w="9525">
            <a:solidFill>
              <a:srgbClr val="C8A4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5394960"/>
            <a:ext cx="1047262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B565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Caution   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advertising regulation (Disposition 4059/2025) may catch existing marketing copy. We recommend reviewing the copy before entering the local market.</a:t>
            </a:r>
            <a:endParaRPr lang="en-US" sz="10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903720" y="2212848"/>
          <a:ext cx="4626864" cy="2980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658368" y="6163056"/>
            <a:ext cx="10874959" cy="9144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62362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Source: KOTRA Overseas Economic Information Dream · Korea Cosmetic Association · REACH24H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984687" y="62362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2FA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SPAIN / EU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950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Spain·EU — No.1, but regulation is shaking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426464"/>
            <a:ext cx="786384" cy="32004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572768"/>
            <a:ext cx="10874959" cy="475488"/>
          </a:xfrm>
          <a:prstGeom prst="rect">
            <a:avLst/>
          </a:prstGeom>
          <a:solidFill>
            <a:srgbClr val="123B34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K-beauty online consumption in Spain surged 430%; new sales channels are forming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21.7%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No.1 share of EU imports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71216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5th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871216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Rank as an exporter to the EU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84064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items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84064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Regulations taking effect in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3291840"/>
            <a:ext cx="6400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Social commerce such as TikTok Shop is emerging as a major K-beauty growth channel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widening online beauty buyer base in Spain increases market opportunity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premium prosumers show a preference for K-beauty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5340096"/>
            <a:ext cx="10874959" cy="658368"/>
          </a:xfrm>
          <a:prstGeom prst="roundRect">
            <a:avLst>
              <a:gd name="adj" fmla="val 6944"/>
            </a:avLst>
          </a:prstGeom>
          <a:solidFill>
            <a:srgbClr val="FDF0DC"/>
          </a:solidFill>
          <a:ln w="9525">
            <a:solidFill>
              <a:srgbClr val="C8A4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5394960"/>
            <a:ext cx="1047262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B565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Caution   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Online channel strategy needs to be differentiated by region (social commerce vs. traditional e-commerce)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03720" y="2286000"/>
            <a:ext cx="4626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Regulatory calendar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22592" y="2724912"/>
            <a:ext cx="12802" cy="2103120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0" y="2798064"/>
            <a:ext cx="155448" cy="155448"/>
          </a:xfrm>
          <a:prstGeom prst="ellipse">
            <a:avLst/>
          </a:prstGeom>
          <a:solidFill>
            <a:srgbClr val="123B34"/>
          </a:solidFill>
          <a:ln/>
        </p:spPr>
      </p:sp>
      <p:sp>
        <p:nvSpPr>
          <p:cNvPr id="18" name="Text 16"/>
          <p:cNvSpPr/>
          <p:nvPr/>
        </p:nvSpPr>
        <p:spPr>
          <a:xfrm>
            <a:off x="7260336" y="276148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2026.07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60336" y="3035808"/>
            <a:ext cx="422452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Mandatory INCI ingredient dictionary · declaration of 82 allergens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3858768"/>
            <a:ext cx="155448" cy="155448"/>
          </a:xfrm>
          <a:prstGeom prst="ellipse">
            <a:avLst/>
          </a:prstGeom>
          <a:solidFill>
            <a:srgbClr val="123B34"/>
          </a:solidFill>
          <a:ln/>
        </p:spPr>
      </p:sp>
      <p:sp>
        <p:nvSpPr>
          <p:cNvPr id="21" name="Text 19"/>
          <p:cNvSpPr/>
          <p:nvPr/>
        </p:nvSpPr>
        <p:spPr>
          <a:xfrm>
            <a:off x="7260336" y="382219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2026.08.12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0336" y="4096512"/>
            <a:ext cx="422452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PPWR takes effect — PFAS and heavy metal limits, packaging traceability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" y="6163056"/>
            <a:ext cx="10874959" cy="9144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62362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Source: K-Beauty Goes Global: Sales Surge 53% as Korean Innovation Reshapes Beauty Growth · Spain E-commerce Market Size, Share, Growth, Trends, 2034 · Europe K-Beauty Products Market Size, Report 2035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984687" y="62362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2FA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GCC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950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GCC — two countries hold three quarters of the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426464"/>
            <a:ext cx="786384" cy="32004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572768"/>
            <a:ext cx="10874959" cy="475488"/>
          </a:xfrm>
          <a:prstGeom prst="rect">
            <a:avLst/>
          </a:prstGeom>
          <a:solidFill>
            <a:srgbClr val="2FA8A0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Saudi Arabia and the UAE account for 75%+ of GCC K-beauty demand — halal is not mandatory, but it helps channel entry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Saudi Arabia's share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71216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871216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Saudi Arabia + UAE combined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84064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to 8 weeks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84064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UAE registration lead time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3291840"/>
            <a:ext cx="6400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Saudi Arabia 52% + UAE — the two countries hold over 75% of GCC K-beauty demand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Halal certification is not a legal obligation — but 80% of consumers are willing to pay a premium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UAE certification requires a MOIAT-recognised body plus the national halal mark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Major K-beauty brands already broadly meet halal criteria (no porcine derivatives, no prohibited alcohols)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Cosmetic registration is mandatory; UAE approval takes 4 to 8 weeks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5340096"/>
            <a:ext cx="10874959" cy="658368"/>
          </a:xfrm>
          <a:prstGeom prst="roundRect">
            <a:avLst>
              <a:gd name="adj" fmla="val 6944"/>
            </a:avLst>
          </a:prstGeom>
          <a:solidFill>
            <a:srgbClr val="FDF0DC"/>
          </a:solidFill>
          <a:ln w="9525">
            <a:solidFill>
              <a:srgbClr val="C8A4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5394960"/>
            <a:ext cx="1047262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B565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Caution   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Care is needed not to overspend by mistaking halal certification for 'mandatory'. It is better to confirm first whether the entry channel requires it, and then decide.</a:t>
            </a:r>
            <a:endParaRPr lang="en-US" sz="10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903720" y="2212848"/>
          <a:ext cx="4626864" cy="2980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658368" y="6163056"/>
            <a:ext cx="10874959" cy="9144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62362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Source: KNOK Global · WifiTalents · AHF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984687" y="62362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C8A4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DECISION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877824"/>
            <a:ext cx="9509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 matters requiring your decision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536192"/>
            <a:ext cx="786384" cy="32004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13969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08176" y="215798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 to start reworking EU labels and packaging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08176" y="2505456"/>
            <a:ext cx="102412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After PPWR on 12 August, existing packaging stock may become undistributable. Please decide the stock run-down plan and when to allocate the rework budget.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3328416"/>
            <a:ext cx="10874959" cy="7315"/>
          </a:xfrm>
          <a:prstGeom prst="rect">
            <a:avLst/>
          </a:prstGeom>
          <a:solidFill>
            <a:srgbClr val="1C554A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60273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08176" y="362102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GCC entry channel and whether to obtain halal certification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08176" y="3968496"/>
            <a:ext cx="102412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Halal is not a legal obligation. We propose confirming first whether the target channel requires it, and then deciding whether to spend on certification.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" y="4791456"/>
            <a:ext cx="10874959" cy="7315"/>
          </a:xfrm>
          <a:prstGeom prst="rect">
            <a:avLst/>
          </a:prstGeom>
          <a:solidFill>
            <a:srgbClr val="1C554A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506577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08176" y="508406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Scale of first-mover investment in Argentina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08176" y="5431536"/>
            <a:ext cx="102412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 are in a 1.2% share, 90%+ growth window. Given the ANMAT registration lead time, we must start now to make next year's season.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61996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KOREA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AURA KOREA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하반기 3대 수출시장 브리핑</dc:title>
  <dc:subject>PptxGenJS Presentation</dc:subject>
  <dc:creator>아우라코리아 · 강태오</dc:creator>
  <cp:lastModifiedBy>아우라코리아 · 강태오</cp:lastModifiedBy>
  <cp:revision>1</cp:revision>
  <dcterms:created xsi:type="dcterms:W3CDTF">2026-08-18T06:39:32Z</dcterms:created>
  <dcterms:modified xsi:type="dcterms:W3CDTF">2026-08-18T06:39:32Z</dcterms:modified>
</cp:coreProperties>
</file>