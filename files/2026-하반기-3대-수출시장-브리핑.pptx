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A45C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D8CF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FA8A0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프랑스·브라질·미국</c:v>
                </c:pt>
                <c:pt idx="1">
                  <c:v>기타</c:v>
                </c:pt>
                <c:pt idx="2">
                  <c:v>한국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38.8</c:v>
                </c:pt>
                <c:pt idx="2">
                  <c:v>1.2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A8A0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D8CF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사우디</c:v>
                </c:pt>
                <c:pt idx="1">
                  <c:v>UAE 외 GCC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18288" cy="685800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7863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KOREA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051560" cy="41148"/>
          </a:xfrm>
          <a:prstGeom prst="rect">
            <a:avLst/>
          </a:prstGeom>
          <a:solidFill>
            <a:srgbClr val="2FA8A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57984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하반기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수출시장 브리핑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404164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 · 스페인/EU · GCC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435254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시장조사 담당 3인이 직접 조사한 결과입니다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563270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 공민규</a:t>
            </a:r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|   작성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문서제작 강태오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590702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2026. 08. 18.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1920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772400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수입 화장품 점유율 1위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305409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772400" y="3602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 대한 수입 증가율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1879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772400" y="4736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수요의 사우디·UAE 집중도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시장은 이렇게 갈리고 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11680"/>
            <a:ext cx="41148" cy="2834640"/>
          </a:xfrm>
          <a:prstGeom prst="rect">
            <a:avLst/>
          </a:prstGeom>
          <a:solidFill>
            <a:srgbClr val="123B34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스페인 · EU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1위 — 규제가 변수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스페인 K뷰티 온라인 소비 430% 급증, 신규 판로 형성 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8698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8698" y="2011680"/>
            <a:ext cx="41148" cy="2834640"/>
          </a:xfrm>
          <a:prstGeom prst="rect">
            <a:avLst/>
          </a:prstGeom>
          <a:solidFill>
            <a:srgbClr val="2FA8A0"/>
          </a:solidFill>
          <a:ln/>
        </p:spPr>
      </p:sp>
      <p:sp>
        <p:nvSpPr>
          <p:cNvPr id="14" name="Text 12"/>
          <p:cNvSpPr/>
          <p:nvPr/>
        </p:nvSpPr>
        <p:spPr>
          <a:xfrm>
            <a:off x="4679594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· 중동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79594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집중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79594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나라에 자원을 몰아야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79594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8" name="Text 16"/>
          <p:cNvSpPr/>
          <p:nvPr/>
        </p:nvSpPr>
        <p:spPr>
          <a:xfrm>
            <a:off x="4679594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사우디·UAE가 GCC K뷰티 수요의 75%+ — 할랄은 의무 아니지만 채널 진입에 유리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79029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79029" y="2011680"/>
            <a:ext cx="41148" cy="283464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21" name="Text 19"/>
          <p:cNvSpPr/>
          <p:nvPr/>
        </p:nvSpPr>
        <p:spPr>
          <a:xfrm>
            <a:off x="8389925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89925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89925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작지만 가장 빨리 크는 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89925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5" name="Text 23"/>
          <p:cNvSpPr/>
          <p:nvPr/>
        </p:nvSpPr>
        <p:spPr>
          <a:xfrm>
            <a:off x="8389925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K뷰티 점유율은 1.2%로 아직 작지만 성장률 90%대 — 지금이 선점 시기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5358384"/>
            <a:ext cx="10874959" cy="658368"/>
          </a:xfrm>
          <a:prstGeom prst="rect">
            <a:avLst/>
          </a:prstGeom>
          <a:solidFill>
            <a:srgbClr val="123B3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 의견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시장을 같은 무게로 다루면 셋 다 놓칩니다. EU는 규제 대응(라벨·포장)에, GCC는 사우디·UAE 두 나라에, 아르헨티나는 선점 속도에 예산을 나눠 배분하실 것을 제안드립니다.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시장조사 담당 3인 웹 검색 리서치 (2026.08.18)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 — 작지만 가장 빨리 크는 시장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C8A45C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K뷰티 점유율은 1.2%로 아직 작지만 성장률 90%대 — 지금이 선점 시기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점유율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전년 대비 성장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3개국 과점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점유율 1.2%지만 성장률 90%+ — 경쟁 밀도가 낮은 선점 구간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3개국(프랑스·브라질·미국)이 60% 과점 — 가격보다 차별화로 진입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ANMAT 사전 등록 필수, 원료·성분 개별 승인까지 소요기간 확보 필요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6월 광고 규제 신설 — 효능 표현 문구를 사전 점검해야 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규제(제4059/2025호)로 기존 마케팅 문구가 걸릴 수 있습니다. 현지 진출 전 카피 검수를 권합니다.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03720" y="2212848"/>
          <a:ext cx="4626864" cy="2980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KOTRA 해외경제정보드림 · 대한화장품협회 · REACH24H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SPAIN / EU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스페인·EU — 1위지만 규제가 흔든다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123B3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스페인 K뷰티 온라인 소비 430% 급증, 신규 판로 형성 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수입 점유율 1위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대EU 수출국 순위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시행 규제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TikTok Shop 등 소셜커머스가 K뷰티 주요 성장 채널로 부상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스페인 온라인 뷰티 구매층 확대로 시장 기회 증가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프리미엄 프로슈머층이 K뷰티 선호 경향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지역별 온라인 채널 전략 차등화 필요 (소셜커머스 vs 전통 이커머스)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4626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캘린더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22592" y="2724912"/>
            <a:ext cx="12802" cy="2103120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2798064"/>
            <a:ext cx="155448" cy="155448"/>
          </a:xfrm>
          <a:prstGeom prst="ellipse">
            <a:avLst/>
          </a:prstGeom>
          <a:solidFill>
            <a:srgbClr val="123B34"/>
          </a:solidFill>
          <a:ln/>
        </p:spPr>
      </p:sp>
      <p:sp>
        <p:nvSpPr>
          <p:cNvPr id="18" name="Text 16"/>
          <p:cNvSpPr/>
          <p:nvPr/>
        </p:nvSpPr>
        <p:spPr>
          <a:xfrm>
            <a:off x="7260336" y="27614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0336" y="3035808"/>
            <a:ext cx="4224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INCI 성분 사전 강제 · 알레르겐 82종 표기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3858768"/>
            <a:ext cx="155448" cy="155448"/>
          </a:xfrm>
          <a:prstGeom prst="ellipse">
            <a:avLst/>
          </a:prstGeom>
          <a:solidFill>
            <a:srgbClr val="123B34"/>
          </a:solidFill>
          <a:ln/>
        </p:spPr>
      </p:sp>
      <p:sp>
        <p:nvSpPr>
          <p:cNvPr id="21" name="Text 19"/>
          <p:cNvSpPr/>
          <p:nvPr/>
        </p:nvSpPr>
        <p:spPr>
          <a:xfrm>
            <a:off x="7260336" y="3822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2026.08.12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0336" y="4096512"/>
            <a:ext cx="4224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PPWR 시행 — PFAS·중금속 제한, 포장 추적성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K-Beauty Goes Global: Sales Surge 53% as Korean Innovation Reshapes Beauty Growth · Spain E-commerce Market Size, Share, Growth, Trends, 2034 · Europe K-Beauty Products Market Size, Report 2035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— 두 나라가 시장의 4분의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2FA8A0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사우디·UAE가 GCC K뷰티 수요의 75%+ — 할랄은 의무 아니지만 채널 진입에 유리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 비중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사우디+UAE 합계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4~8주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UAE 등록 소요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 52% + UAE — 두 나라가 GCC K뷰티 수요의 75% 이상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할랄 인증은 법적 의무 아님 — 다만 소비자 80%가 프리미엄 지불 의향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UAE 인증 시 MOIAT 인정 기관 + 국가 할랄 마크 필수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K뷰티 브랜드는 이미 할랄 기준에 대체로 부합 (돼지 유래·금지 알코올 미사용)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화장품 등록은 의무, UAE 승인 소요 4~8주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할랄 인증을 '필수'로 오해해 비용을 과다 집행하지 않도록 주의가 필요합니다. 진입 채널이 요구하는지 먼저 확인하고 결정하는 편이 낫습니다.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03720" y="2212848"/>
          <a:ext cx="4626864" cy="2980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KNOK Global · WifiTalents · AHF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9509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 결정이 필요한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1396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08176" y="215798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라벨·포장 재작업 착수 시점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250545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 12일 PPWR 이후 기존 포장 재고가 유통 불가해질 수 있습니다. 재고 소진 계획과 재작업 예산을 언제 잡을지 정해 주십시오.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3328416"/>
            <a:ext cx="10874959" cy="7315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6027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08176" y="362102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진입 채널과 할랄 인증 여부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08176" y="396849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할랄은 법적 의무가 아닙니다. 목표 채널이 요구하는지 먼저 확인하고 인증 비용 집행 여부를 결정하시길 제안드립니다.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4791456"/>
            <a:ext cx="10874959" cy="7315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50657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08176" y="508406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 선점 투자 규모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08176" y="54315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점유율 1.2%, 성장률 90%+ 구간입니다. ANMAT 등록 리드타임을 감안하면 지금 착수해야 내년 시즌에 맞습니다.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6199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KOREA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AURA KOREA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하반기 3대 수출시장 브리핑</dc:title>
  <dc:subject>PptxGenJS Presentation</dc:subject>
  <dc:creator>아우라코리아 · 강태오</dc:creator>
  <cp:lastModifiedBy>아우라코리아 · 강태오</cp:lastModifiedBy>
  <cp:revision>1</cp:revision>
  <dcterms:created xsi:type="dcterms:W3CDTF">2026-08-18T06:39:32Z</dcterms:created>
  <dcterms:modified xsi:type="dcterms:W3CDTF">2026-08-18T06:39:32Z</dcterms:modified>
</cp:coreProperties>
</file>