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A45C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D8CF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FA8A0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Francia·Brasil·EE. UU.</c:v>
                </c:pt>
                <c:pt idx="1">
                  <c:v>Otros</c:v>
                </c:pt>
                <c:pt idx="2">
                  <c:v>Corea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38.8</c:v>
                </c:pt>
                <c:pt idx="2">
                  <c:v>1.2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A8A0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D8CF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Arabia Saudita</c:v>
                </c:pt>
                <c:pt idx="1">
                  <c:v>EAU y resto del GCC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52</c:v>
                </c:pt>
                <c:pt idx="1">
                  <c:v>48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1C554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18288" cy="6858000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7863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KOREA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051560" cy="41148"/>
          </a:xfrm>
          <a:prstGeom prst="rect">
            <a:avLst/>
          </a:prstGeom>
          <a:solidFill>
            <a:srgbClr val="2FA8A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57984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Segundo semestre 2026</a:t>
            </a:r>
            <a:endParaRPr lang="en-US" sz="4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Informe de los 3 principales mercados de exportación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404164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Argentina · España/UE · GCC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435254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Resultados de la investigación realizada directamente por los 3 responsables de estudio de mercado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5632704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Informa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Jefe de División Gong Min-gyu</a:t>
            </a:r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|   Elaboró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Producción de Documentos Kang Tae-o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5907024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2026. 08. 18.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19202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772400" y="2468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1.º en participación de cosméticos importados en la 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305409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772400" y="36027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Crecimiento de las importaciones argentinas desde Corea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18795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772400" y="47365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Concentración de la demanda del GCC en Arabia Saudita y EAU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RESUMEN EJECUTIVO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Así se está dividiendo el mercado hoy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201168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DC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11680"/>
            <a:ext cx="41148" cy="2834640"/>
          </a:xfrm>
          <a:prstGeom prst="rect">
            <a:avLst/>
          </a:prstGeom>
          <a:solidFill>
            <a:srgbClr val="123B34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2286000"/>
            <a:ext cx="29056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España · 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" y="2560320"/>
            <a:ext cx="290565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Defender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9264" y="3090672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 en el 1.º puesto — la regulación es la variable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9264" y="3493008"/>
            <a:ext cx="2832506" cy="7315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3639312"/>
            <a:ext cx="283250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 consumo online de K-beauty en España se disparó 430%; se están formando nuevos canales de venta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8698" y="201168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8698" y="2011680"/>
            <a:ext cx="41148" cy="2834640"/>
          </a:xfrm>
          <a:prstGeom prst="rect">
            <a:avLst/>
          </a:prstGeom>
          <a:solidFill>
            <a:srgbClr val="2FA8A0"/>
          </a:solidFill>
          <a:ln/>
        </p:spPr>
      </p:sp>
      <p:sp>
        <p:nvSpPr>
          <p:cNvPr id="14" name="Text 12"/>
          <p:cNvSpPr/>
          <p:nvPr/>
        </p:nvSpPr>
        <p:spPr>
          <a:xfrm>
            <a:off x="4679594" y="2286000"/>
            <a:ext cx="29056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 · Medio Oriente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79594" y="2560320"/>
            <a:ext cx="290565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Concentrar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79594" y="3090672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Hay que concentrar los recursos en dos países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79594" y="3493008"/>
            <a:ext cx="2832506" cy="7315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8" name="Text 16"/>
          <p:cNvSpPr/>
          <p:nvPr/>
        </p:nvSpPr>
        <p:spPr>
          <a:xfrm>
            <a:off x="4679594" y="3639312"/>
            <a:ext cx="283250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Arabia Saudita y EAU representan más del 75% de la demanda de K-beauty del GCC — el halal no es obligatorio, pero favorece el ingreso a los canales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79029" y="201168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DC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79029" y="2011680"/>
            <a:ext cx="41148" cy="2834640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21" name="Text 19"/>
          <p:cNvSpPr/>
          <p:nvPr/>
        </p:nvSpPr>
        <p:spPr>
          <a:xfrm>
            <a:off x="8389925" y="2286000"/>
            <a:ext cx="29056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Argentina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89925" y="2560320"/>
            <a:ext cx="290565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Anticiparse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389925" y="3090672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Pequeño, pero el que más rápido crece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89925" y="3493008"/>
            <a:ext cx="2832506" cy="7315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25" name="Text 23"/>
          <p:cNvSpPr/>
          <p:nvPr/>
        </p:nvSpPr>
        <p:spPr>
          <a:xfrm>
            <a:off x="8389925" y="3639312"/>
            <a:ext cx="283250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 participación de K-beauty es de 1.2%, todavía pequeña, pero el crecimiento ronda el 90% — este es el momento de anticiparse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5358384"/>
            <a:ext cx="10874959" cy="658368"/>
          </a:xfrm>
          <a:prstGeom prst="rect">
            <a:avLst/>
          </a:prstGeom>
          <a:solidFill>
            <a:srgbClr val="123B34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8A4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Opinión del Jefe de División 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 se tratan los tres mercados con el mismo peso, se pierden los tres. Propongo repartir el presupuesto así: la UE en la respuesta regulatoria (etiquetado y envases), el GCC en dos países (Arabia Saudita y EAU), y Argentina en la velocidad de anticipación.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Fuente: investigación por búsqueda web de los 3 responsables de estudio de mercado (2026.08.18)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ARGENTINA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Argentina — un mercado pequeño, pero el que más rápido crece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0874959" cy="475488"/>
          </a:xfrm>
          <a:prstGeom prst="rect">
            <a:avLst/>
          </a:prstGeom>
          <a:solidFill>
            <a:srgbClr val="C8A45C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 participación de K-beauty es de 1.2%, todavía pequeña, pero el crecimiento ronda el 90% — este es el momento de anticiparse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Participación de Corea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71216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71216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Crecimiento interanual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84064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84064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Oligopolio de los 3 primeros países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 participación de Corea es de 1.2%, pero el crecimiento supera el 90% — una etapa de baja densidad competitiva para anticiparse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 3 primeros países (Francia, Brasil y Estados Unidos) concentran el 60% — conviene entrar por diferenciación antes que por precio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Registro previo ante ANMAT obligatorio; hay que prever los plazos hasta la aprobación individual de materias primas e ingredientes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Nueva regulación publicitaria de junio de 2025 — hay que revisar previamente las frases sobre eficacia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5340096"/>
            <a:ext cx="10874959" cy="658368"/>
          </a:xfrm>
          <a:prstGeom prst="roundRect">
            <a:avLst>
              <a:gd name="adj" fmla="val 6944"/>
            </a:avLst>
          </a:prstGeom>
          <a:solidFill>
            <a:srgbClr val="FDF0DC"/>
          </a:solidFill>
          <a:ln w="9525">
            <a:solidFill>
              <a:srgbClr val="C8A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394960"/>
            <a:ext cx="10472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Atención 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 regulación publicitaria (Disposición 4059/2025) puede alcanzar las frases de marketing actuales. Se recomienda revisar los textos antes de ingresar al mercado local.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903720" y="2212848"/>
          <a:ext cx="4626864" cy="2980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Fuente: KOTRA Información Económica Internacional Dream · Asociación Coreana de Cosméticos · REACH24H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ESPAÑA / UE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España·UE — en el 1.º puesto, pero la regulación lo sacude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0874959" cy="475488"/>
          </a:xfrm>
          <a:prstGeom prst="rect">
            <a:avLst/>
          </a:prstGeom>
          <a:solidFill>
            <a:srgbClr val="123B34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 consumo online de K-beauty en España se disparó 430%; se están formando nuevos canales de venta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21.7%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1.º en participación de importaciones de la 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71216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5.º puesto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71216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Ranking como país exportador a la 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84064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normas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84064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Regulaciones que entran en vigencia en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 social commerce, como TikTok Shop, emerge como principal canal de crecimiento del K-beauty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 ampliación del público que compra belleza online en España aumenta las oportunidades de mercado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 segmento prosumer premium de la UE muestra preferencia por el K-beauty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5340096"/>
            <a:ext cx="10874959" cy="658368"/>
          </a:xfrm>
          <a:prstGeom prst="roundRect">
            <a:avLst>
              <a:gd name="adj" fmla="val 6944"/>
            </a:avLst>
          </a:prstGeom>
          <a:solidFill>
            <a:srgbClr val="FDF0DC"/>
          </a:solidFill>
          <a:ln w="9525">
            <a:solidFill>
              <a:srgbClr val="C8A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394960"/>
            <a:ext cx="10472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Atención 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Hay que diferenciar la estrategia de canales online por región (social commerce vs. e-commerce tradicional)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2286000"/>
            <a:ext cx="4626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Calendario regulatorio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22592" y="2724912"/>
            <a:ext cx="12802" cy="2103120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2798064"/>
            <a:ext cx="155448" cy="155448"/>
          </a:xfrm>
          <a:prstGeom prst="ellipse">
            <a:avLst/>
          </a:prstGeom>
          <a:solidFill>
            <a:srgbClr val="123B34"/>
          </a:solidFill>
          <a:ln/>
        </p:spPr>
      </p:sp>
      <p:sp>
        <p:nvSpPr>
          <p:cNvPr id="18" name="Text 16"/>
          <p:cNvSpPr/>
          <p:nvPr/>
        </p:nvSpPr>
        <p:spPr>
          <a:xfrm>
            <a:off x="7260336" y="27614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2026.07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0336" y="3035808"/>
            <a:ext cx="4224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Diccionario INCI de ingredientes obligatorio · declaración de 82 alérgenos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3858768"/>
            <a:ext cx="155448" cy="155448"/>
          </a:xfrm>
          <a:prstGeom prst="ellipse">
            <a:avLst/>
          </a:prstGeom>
          <a:solidFill>
            <a:srgbClr val="123B34"/>
          </a:solidFill>
          <a:ln/>
        </p:spPr>
      </p:sp>
      <p:sp>
        <p:nvSpPr>
          <p:cNvPr id="21" name="Text 19"/>
          <p:cNvSpPr/>
          <p:nvPr/>
        </p:nvSpPr>
        <p:spPr>
          <a:xfrm>
            <a:off x="7260336" y="38221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2026.08.12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0336" y="4096512"/>
            <a:ext cx="4224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Entrada en vigencia del PPWR — restricción de PFAS y metales pesados, trazabilidad de envases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Fuente: K-Beauty Goes Global: Sales Surge 53% as Korean Innovation Reshapes Beauty Growth · Spain E-commerce Market Size, Share, Growth, Trends, 2034 · Europe K-Beauty Products Market Size, Report 2035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 — dos países concentran tres cuartas partes del mercado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0874959" cy="475488"/>
          </a:xfrm>
          <a:prstGeom prst="rect">
            <a:avLst/>
          </a:prstGeom>
          <a:solidFill>
            <a:srgbClr val="2FA8A0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Arabia Saudita y EAU representan más del 75% de la demanda de K-beauty del GCC — el halal no es obligatorio, pero favorece el ingreso a los canales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Participación de Arabia Saudita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71216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71216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Arabia Saudita + EAU en conjunto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84064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a 8 semanas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84064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Plazo de registro en EAU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Arabia Saudita 52% + EAU — los dos países superan el 75% de la demanda de K-beauty del GCC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 certificación halal no es una obligación legal — aunque el 80% de los consumidores está dispuesto a pagar un premium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Para certificar en EAU se exige un organismo reconocido por MOIAT y la marca halal nacional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Las principales marcas de K-beauty ya cumplen en general con los criterios halal (sin derivados porcinos ni alcoholes prohibidos)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 registro de cosméticos es obligatorio; la aprobación en EAU demora de 4 a 8 semanas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5340096"/>
            <a:ext cx="10874959" cy="658368"/>
          </a:xfrm>
          <a:prstGeom prst="roundRect">
            <a:avLst>
              <a:gd name="adj" fmla="val 6944"/>
            </a:avLst>
          </a:prstGeom>
          <a:solidFill>
            <a:srgbClr val="FDF0DC"/>
          </a:solidFill>
          <a:ln w="9525">
            <a:solidFill>
              <a:srgbClr val="C8A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394960"/>
            <a:ext cx="10472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Atención 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Hay que tener cuidado de no interpretar la certificación halal como 'obligatoria' y ejecutar gastos excesivos. Conviene confirmar primero si el canal de ingreso la exige y recién entonces decidir.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903720" y="2212848"/>
          <a:ext cx="4626864" cy="2980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Fuente: KNOK Global · WifiTalents · AHF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C8A4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9509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Tres puntos que requieren su decisión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536192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1396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08176" y="215798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Momento para iniciar el rehacer de etiquetas y envases para la 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8176" y="250545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Después del PPWR del 12 de agosto, el stock de envases actual podría quedar fuera de circulación. Le pedimos definir el plan de agotamiento del stock y cuándo asignar el presupuesto de rehacer.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3328416"/>
            <a:ext cx="10874959" cy="7315"/>
          </a:xfrm>
          <a:prstGeom prst="rect">
            <a:avLst/>
          </a:prstGeom>
          <a:solidFill>
            <a:srgbClr val="1C554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60273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08176" y="362102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Canal de ingreso al GCC y si corresponde la certificación halal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08176" y="396849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 halal no es una obligación legal. Proponemos confirmar primero si el canal objetivo lo exige y luego decidir la ejecución del gasto de certificación.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4791456"/>
            <a:ext cx="10874959" cy="7315"/>
          </a:xfrm>
          <a:prstGeom prst="rect">
            <a:avLst/>
          </a:prstGeom>
          <a:solidFill>
            <a:srgbClr val="1C554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50657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08176" y="508406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Magnitud de la inversión para anticiparse en Argentina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08176" y="543153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Estamos en una etapa de 1.2% de participación y más de 90% de crecimiento. Considerando el lead time del registro ante ANMAT, hay que iniciar ahora para llegar a la temporada del año próximo.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6199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KOREA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AURA KOREA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하반기 3대 수출시장 브리핑</dc:title>
  <dc:subject>PptxGenJS Presentation</dc:subject>
  <dc:creator>아우라코리아 · 강태오</dc:creator>
  <cp:lastModifiedBy>아우라코리아 · 강태오</cp:lastModifiedBy>
  <cp:revision>1</cp:revision>
  <dcterms:created xsi:type="dcterms:W3CDTF">2026-08-18T06:39:32Z</dcterms:created>
  <dcterms:modified xsi:type="dcterms:W3CDTF">2026-08-18T06:39:32Z</dcterms:modified>
</cp:coreProperties>
</file>